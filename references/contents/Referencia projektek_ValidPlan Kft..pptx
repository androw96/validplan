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62" r:id="rId3"/>
    <p:sldId id="268" r:id="rId4"/>
    <p:sldId id="269" r:id="rId5"/>
    <p:sldId id="267" r:id="rId6"/>
    <p:sldId id="266" r:id="rId7"/>
    <p:sldId id="264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83" autoAdjust="0"/>
  </p:normalViewPr>
  <p:slideViewPr>
    <p:cSldViewPr snapToGrid="0">
      <p:cViewPr varScale="1">
        <p:scale>
          <a:sx n="104" d="100"/>
          <a:sy n="104" d="100"/>
        </p:scale>
        <p:origin x="138" y="2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7539-F0D4-4C64-9FB8-AC10E626B829}" type="datetimeFigureOut">
              <a:rPr lang="de-AT" smtClean="0"/>
              <a:t>23.04.2024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47E-1191-470E-BE1B-97855F53C3E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0117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7539-F0D4-4C64-9FB8-AC10E626B829}" type="datetimeFigureOut">
              <a:rPr lang="de-AT" smtClean="0"/>
              <a:t>23.04.2024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47E-1191-470E-BE1B-97855F53C3E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3354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7539-F0D4-4C64-9FB8-AC10E626B829}" type="datetimeFigureOut">
              <a:rPr lang="de-AT" smtClean="0"/>
              <a:t>23.04.2024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47E-1191-470E-BE1B-97855F53C3E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51823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7539-F0D4-4C64-9FB8-AC10E626B829}" type="datetimeFigureOut">
              <a:rPr lang="de-AT" smtClean="0"/>
              <a:t>23.04.2024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47E-1191-470E-BE1B-97855F53C3E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19145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7539-F0D4-4C64-9FB8-AC10E626B829}" type="datetimeFigureOut">
              <a:rPr lang="de-AT" smtClean="0"/>
              <a:t>23.04.2024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47E-1191-470E-BE1B-97855F53C3E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74246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7539-F0D4-4C64-9FB8-AC10E626B829}" type="datetimeFigureOut">
              <a:rPr lang="de-AT" smtClean="0"/>
              <a:t>23.04.2024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47E-1191-470E-BE1B-97855F53C3E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23025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51512"/>
            <a:ext cx="3854528" cy="968097"/>
          </a:xfrm>
          <a:ln w="50800"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anchor="t">
            <a:normAutofit/>
          </a:bodyPr>
          <a:lstStyle>
            <a:lvl1pPr algn="l">
              <a:defRPr sz="2000">
                <a:ln>
                  <a:noFill/>
                </a:ln>
                <a:solidFill>
                  <a:schemeClr val="tx1"/>
                </a:solidFill>
                <a:effectLst>
                  <a:glow rad="203200">
                    <a:schemeClr val="accent1">
                      <a:lumMod val="40000"/>
                      <a:lumOff val="60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1419609"/>
            <a:ext cx="3854528" cy="4152249"/>
          </a:xfrm>
        </p:spPr>
        <p:txBody>
          <a:bodyPr>
            <a:normAutofit/>
          </a:bodyPr>
          <a:lstStyle>
            <a:lvl1pPr marL="285750" indent="-285750">
              <a:buClrTx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endParaRPr lang="hu-HU" dirty="0"/>
          </a:p>
        </p:txBody>
      </p:sp>
      <p:sp>
        <p:nvSpPr>
          <p:cNvPr id="12" name="Kép helye 8">
            <a:extLst>
              <a:ext uri="{FF2B5EF4-FFF2-40B4-BE49-F238E27FC236}">
                <a16:creationId xmlns:a16="http://schemas.microsoft.com/office/drawing/2014/main" id="{43177F81-39FD-F209-7EC4-E13D9C70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59324" y="451512"/>
            <a:ext cx="6755342" cy="2898439"/>
          </a:xfrm>
        </p:spPr>
        <p:txBody>
          <a:bodyPr/>
          <a:lstStyle/>
          <a:p>
            <a:endParaRPr lang="de-AT"/>
          </a:p>
        </p:txBody>
      </p:sp>
      <p:sp>
        <p:nvSpPr>
          <p:cNvPr id="13" name="Kép helye 8">
            <a:extLst>
              <a:ext uri="{FF2B5EF4-FFF2-40B4-BE49-F238E27FC236}">
                <a16:creationId xmlns:a16="http://schemas.microsoft.com/office/drawing/2014/main" id="{F2699BFF-4349-BC3C-C807-428E430B46E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9324" y="3508049"/>
            <a:ext cx="6755342" cy="2898439"/>
          </a:xfrm>
        </p:spPr>
        <p:txBody>
          <a:bodyPr/>
          <a:lstStyle/>
          <a:p>
            <a:endParaRPr lang="de-AT"/>
          </a:p>
        </p:txBody>
      </p:sp>
      <p:pic>
        <p:nvPicPr>
          <p:cNvPr id="3" name="Kép 2" descr="A képen Betűtípus, Grafika, szöveg, embléma látható&#10;&#10;Automatikusan generált leírás">
            <a:extLst>
              <a:ext uri="{FF2B5EF4-FFF2-40B4-BE49-F238E27FC236}">
                <a16:creationId xmlns:a16="http://schemas.microsoft.com/office/drawing/2014/main" id="{08CCAE43-48F1-2EAC-B575-3BC78A19D0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90" y="5671367"/>
            <a:ext cx="2233437" cy="100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84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ép helye 8">
            <a:extLst>
              <a:ext uri="{FF2B5EF4-FFF2-40B4-BE49-F238E27FC236}">
                <a16:creationId xmlns:a16="http://schemas.microsoft.com/office/drawing/2014/main" id="{43177F81-39FD-F209-7EC4-E13D9C70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007" y="436557"/>
            <a:ext cx="5192248" cy="5115832"/>
          </a:xfrm>
        </p:spPr>
        <p:txBody>
          <a:bodyPr/>
          <a:lstStyle/>
          <a:p>
            <a:endParaRPr lang="de-AT"/>
          </a:p>
        </p:txBody>
      </p:sp>
      <p:sp>
        <p:nvSpPr>
          <p:cNvPr id="9" name="Kép helye 8">
            <a:extLst>
              <a:ext uri="{FF2B5EF4-FFF2-40B4-BE49-F238E27FC236}">
                <a16:creationId xmlns:a16="http://schemas.microsoft.com/office/drawing/2014/main" id="{CA054AF9-B8A9-BEE2-3FDA-B24F32AC275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63745" y="436557"/>
            <a:ext cx="5192248" cy="5115832"/>
          </a:xfrm>
        </p:spPr>
        <p:txBody>
          <a:bodyPr/>
          <a:lstStyle/>
          <a:p>
            <a:endParaRPr lang="de-AT"/>
          </a:p>
        </p:txBody>
      </p:sp>
      <p:pic>
        <p:nvPicPr>
          <p:cNvPr id="2" name="Kép 1" descr="A képen Betűtípus, Grafika, szöveg, embléma látható&#10;&#10;Automatikusan generált leírás">
            <a:extLst>
              <a:ext uri="{FF2B5EF4-FFF2-40B4-BE49-F238E27FC236}">
                <a16:creationId xmlns:a16="http://schemas.microsoft.com/office/drawing/2014/main" id="{E8DDA3F6-A1A1-4A8C-04BC-744945F3F2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90" y="5671367"/>
            <a:ext cx="2233437" cy="100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53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ép helye 8">
            <a:extLst>
              <a:ext uri="{FF2B5EF4-FFF2-40B4-BE49-F238E27FC236}">
                <a16:creationId xmlns:a16="http://schemas.microsoft.com/office/drawing/2014/main" id="{4F6D01C4-4311-4438-24F2-8E6144A0AC1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84601" y="3429000"/>
            <a:ext cx="8571391" cy="3119024"/>
          </a:xfrm>
        </p:spPr>
        <p:txBody>
          <a:bodyPr/>
          <a:lstStyle/>
          <a:p>
            <a:endParaRPr lang="de-AT"/>
          </a:p>
        </p:txBody>
      </p:sp>
      <p:sp>
        <p:nvSpPr>
          <p:cNvPr id="4" name="Kép helye 8">
            <a:extLst>
              <a:ext uri="{FF2B5EF4-FFF2-40B4-BE49-F238E27FC236}">
                <a16:creationId xmlns:a16="http://schemas.microsoft.com/office/drawing/2014/main" id="{56E1478C-CAE4-040C-3D1E-9E73F78F96E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884601" y="184258"/>
            <a:ext cx="8571391" cy="3119024"/>
          </a:xfrm>
        </p:spPr>
        <p:txBody>
          <a:bodyPr/>
          <a:lstStyle/>
          <a:p>
            <a:endParaRPr lang="de-AT"/>
          </a:p>
        </p:txBody>
      </p:sp>
      <p:pic>
        <p:nvPicPr>
          <p:cNvPr id="2" name="Kép 1" descr="A képen Betűtípus, Grafika, szöveg, embléma látható&#10;&#10;Automatikusan generált leírás">
            <a:extLst>
              <a:ext uri="{FF2B5EF4-FFF2-40B4-BE49-F238E27FC236}">
                <a16:creationId xmlns:a16="http://schemas.microsoft.com/office/drawing/2014/main" id="{91228D80-979F-31F4-8C24-639CC77A59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90" y="5671367"/>
            <a:ext cx="2233437" cy="100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60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alphaModFix amt="19000"/>
            <a:lum/>
          </a:blip>
          <a:srcRect/>
          <a:tile tx="88900" ty="0" sx="100000" sy="64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E7539-F0D4-4C64-9FB8-AC10E626B829}" type="datetimeFigureOut">
              <a:rPr lang="de-AT" smtClean="0"/>
              <a:t>23.04.2024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F96B47E-1191-470E-BE1B-97855F53C3E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7931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3" r:id="rId7"/>
    <p:sldLayoutId id="2147483784" r:id="rId8"/>
    <p:sldLayoutId id="2147483785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B84DC0-20C5-6F28-9316-70EAE16A9C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/>
              <a:t>Referencia projektek</a:t>
            </a:r>
            <a:endParaRPr lang="de-AT" b="1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C5C7956-07B8-DAEB-B21C-9BF7F74C5F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sz="2400" b="1" dirty="0" err="1"/>
              <a:t>ValidPlan</a:t>
            </a:r>
            <a:r>
              <a:rPr lang="hu-HU" sz="2400" b="1" dirty="0"/>
              <a:t> Kft.</a:t>
            </a:r>
          </a:p>
          <a:p>
            <a:r>
              <a:rPr lang="hu-HU" sz="2400" b="1" dirty="0"/>
              <a:t>Bodor Dániel</a:t>
            </a:r>
            <a:endParaRPr lang="de-AT" sz="2400" b="1" dirty="0"/>
          </a:p>
        </p:txBody>
      </p:sp>
      <p:pic>
        <p:nvPicPr>
          <p:cNvPr id="4" name="Kép 3" descr="A képen Betűtípus, Grafika, szöveg, embléma látható&#10;&#10;Automatikusan generált leírás">
            <a:extLst>
              <a:ext uri="{FF2B5EF4-FFF2-40B4-BE49-F238E27FC236}">
                <a16:creationId xmlns:a16="http://schemas.microsoft.com/office/drawing/2014/main" id="{B5B61165-FF3E-3E8A-B4A9-E00235DA1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356" y="4050833"/>
            <a:ext cx="199128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5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ím 16">
            <a:extLst>
              <a:ext uri="{FF2B5EF4-FFF2-40B4-BE49-F238E27FC236}">
                <a16:creationId xmlns:a16="http://schemas.microsoft.com/office/drawing/2014/main" id="{CC7C110A-A456-8A9F-BAA7-5E937F0C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1800" b="1" dirty="0" err="1"/>
              <a:t>Szendrőládi</a:t>
            </a:r>
            <a:r>
              <a:rPr lang="hu-HU" sz="1800" b="1" dirty="0"/>
              <a:t> Bódva-híd áttervezése</a:t>
            </a:r>
            <a:endParaRPr lang="de-AT" sz="1800" b="1" dirty="0"/>
          </a:p>
        </p:txBody>
      </p:sp>
      <p:sp>
        <p:nvSpPr>
          <p:cNvPr id="18" name="Szöveg helye 17">
            <a:extLst>
              <a:ext uri="{FF2B5EF4-FFF2-40B4-BE49-F238E27FC236}">
                <a16:creationId xmlns:a16="http://schemas.microsoft.com/office/drawing/2014/main" id="{BA97DA73-43F9-43E0-B88C-2D872DBB1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1070817"/>
            <a:ext cx="3854528" cy="4152249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Négytámaszú, monolit vasbeton közúti lemezhíd</a:t>
            </a:r>
          </a:p>
          <a:p>
            <a:r>
              <a:rPr lang="hu-HU" dirty="0"/>
              <a:t>Felszerkezet hossza: 43.74 m (támaszközök: 13.02 m – 17.00 m – 12.98 m)</a:t>
            </a:r>
          </a:p>
          <a:p>
            <a:r>
              <a:rPr lang="hu-HU" dirty="0"/>
              <a:t>Kiviteli tendertervek optimalizálása, különös tekintettel az alapozásra (mélyített síkalap)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Általános tervezés, módosított alépítmény zsalu-, vasalási-, kitűzési tervek készítése, módosított alépítmény statikai számítás készítése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Hídtartozékok terveinek optimalizálása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Tervezői művezetés: építéstechnológiai számítások készítése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Megvalósulási tervek készítése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Felhasznált programok: AutoCAD, </a:t>
            </a:r>
            <a:r>
              <a:rPr lang="hu-HU" dirty="0" err="1"/>
              <a:t>VBexpress</a:t>
            </a:r>
            <a:r>
              <a:rPr lang="hu-HU" dirty="0"/>
              <a:t>, </a:t>
            </a:r>
            <a:r>
              <a:rPr lang="hu-HU" dirty="0" err="1"/>
              <a:t>AxisVM</a:t>
            </a:r>
            <a:endParaRPr lang="hu-HU" dirty="0"/>
          </a:p>
        </p:txBody>
      </p:sp>
      <p:pic>
        <p:nvPicPr>
          <p:cNvPr id="3" name="Kép 2" descr="A képen vázlat, Tervrajz, diagram, Műszaki rajz látható&#10;&#10;Automatikusan generált leírás">
            <a:extLst>
              <a:ext uri="{FF2B5EF4-FFF2-40B4-BE49-F238E27FC236}">
                <a16:creationId xmlns:a16="http://schemas.microsoft.com/office/drawing/2014/main" id="{6A597959-CAED-60A7-812E-1943E3E48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886" y="368327"/>
            <a:ext cx="7660138" cy="3060673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2F1E4EDC-7037-78D8-6032-2968A504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364" y="3615110"/>
            <a:ext cx="5496841" cy="3159349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92353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FA7D4F83-3819-85D3-69E8-3261F8062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37" y="148246"/>
            <a:ext cx="6887776" cy="3352800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D5B1DEBC-7F90-4C92-6202-F49B885C2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192" y="3189962"/>
            <a:ext cx="6096000" cy="3416097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sp>
        <p:nvSpPr>
          <p:cNvPr id="2" name="Cím 16">
            <a:extLst>
              <a:ext uri="{FF2B5EF4-FFF2-40B4-BE49-F238E27FC236}">
                <a16:creationId xmlns:a16="http://schemas.microsoft.com/office/drawing/2014/main" id="{E2527C39-B394-45ED-F6E0-1E5A270DA98E}"/>
              </a:ext>
            </a:extLst>
          </p:cNvPr>
          <p:cNvSpPr txBox="1">
            <a:spLocks/>
          </p:cNvSpPr>
          <p:nvPr/>
        </p:nvSpPr>
        <p:spPr>
          <a:xfrm>
            <a:off x="7502683" y="1340597"/>
            <a:ext cx="3854528" cy="968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1800" b="1" dirty="0">
                <a:solidFill>
                  <a:schemeClr val="tx1"/>
                </a:solidFill>
              </a:rPr>
              <a:t>Pillér vasalási terv</a:t>
            </a:r>
            <a:endParaRPr lang="de-AT" sz="1800" b="1" dirty="0">
              <a:solidFill>
                <a:schemeClr val="tx1"/>
              </a:solidFill>
            </a:endParaRPr>
          </a:p>
        </p:txBody>
      </p:sp>
      <p:sp>
        <p:nvSpPr>
          <p:cNvPr id="3" name="Cím 16">
            <a:extLst>
              <a:ext uri="{FF2B5EF4-FFF2-40B4-BE49-F238E27FC236}">
                <a16:creationId xmlns:a16="http://schemas.microsoft.com/office/drawing/2014/main" id="{2CF616F4-D3ED-16D2-91A9-F62E8C1FD395}"/>
              </a:ext>
            </a:extLst>
          </p:cNvPr>
          <p:cNvSpPr txBox="1">
            <a:spLocks/>
          </p:cNvSpPr>
          <p:nvPr/>
        </p:nvSpPr>
        <p:spPr>
          <a:xfrm>
            <a:off x="3489385" y="4866362"/>
            <a:ext cx="3854528" cy="968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1800" b="1" dirty="0">
                <a:solidFill>
                  <a:schemeClr val="tx1"/>
                </a:solidFill>
              </a:rPr>
              <a:t>Hídfő vasalási terv</a:t>
            </a:r>
            <a:endParaRPr lang="de-AT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97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500DC5C8-1C56-34E7-AB05-8173309B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70" y="267014"/>
            <a:ext cx="6686550" cy="3514725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A1334E5-0373-07AA-8B2F-7AE9FAD61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43" y="3264428"/>
            <a:ext cx="6734175" cy="3352800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sp>
        <p:nvSpPr>
          <p:cNvPr id="16" name="Cím 16">
            <a:extLst>
              <a:ext uri="{FF2B5EF4-FFF2-40B4-BE49-F238E27FC236}">
                <a16:creationId xmlns:a16="http://schemas.microsoft.com/office/drawing/2014/main" id="{C714F99E-3CE1-B619-CC17-9275380EDE53}"/>
              </a:ext>
            </a:extLst>
          </p:cNvPr>
          <p:cNvSpPr txBox="1">
            <a:spLocks/>
          </p:cNvSpPr>
          <p:nvPr/>
        </p:nvSpPr>
        <p:spPr>
          <a:xfrm>
            <a:off x="2324658" y="4748781"/>
            <a:ext cx="3854528" cy="968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1800" b="1" dirty="0">
                <a:solidFill>
                  <a:schemeClr val="tx1"/>
                </a:solidFill>
              </a:rPr>
              <a:t>Statika látványterv</a:t>
            </a:r>
            <a:endParaRPr lang="de-AT" sz="1800" b="1" dirty="0">
              <a:solidFill>
                <a:schemeClr val="tx1"/>
              </a:solidFill>
            </a:endParaRPr>
          </a:p>
        </p:txBody>
      </p:sp>
      <p:sp>
        <p:nvSpPr>
          <p:cNvPr id="18" name="Cím 16">
            <a:extLst>
              <a:ext uri="{FF2B5EF4-FFF2-40B4-BE49-F238E27FC236}">
                <a16:creationId xmlns:a16="http://schemas.microsoft.com/office/drawing/2014/main" id="{3F1E2CB2-FBBD-4CAC-66D2-1453C725E2F2}"/>
              </a:ext>
            </a:extLst>
          </p:cNvPr>
          <p:cNvSpPr txBox="1">
            <a:spLocks/>
          </p:cNvSpPr>
          <p:nvPr/>
        </p:nvSpPr>
        <p:spPr>
          <a:xfrm>
            <a:off x="7304821" y="1461633"/>
            <a:ext cx="3854528" cy="968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1800" b="1" dirty="0">
                <a:solidFill>
                  <a:schemeClr val="tx1"/>
                </a:solidFill>
              </a:rPr>
              <a:t>Statikai váz</a:t>
            </a:r>
            <a:endParaRPr lang="de-AT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216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ím 16">
            <a:extLst>
              <a:ext uri="{FF2B5EF4-FFF2-40B4-BE49-F238E27FC236}">
                <a16:creationId xmlns:a16="http://schemas.microsoft.com/office/drawing/2014/main" id="{CC7C110A-A456-8A9F-BAA7-5E937F0C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1800" b="1" dirty="0"/>
              <a:t>Petőháza – Fertőd kerékpáros hidak</a:t>
            </a:r>
            <a:endParaRPr lang="de-AT" sz="1800" b="1" dirty="0"/>
          </a:p>
        </p:txBody>
      </p:sp>
      <p:sp>
        <p:nvSpPr>
          <p:cNvPr id="18" name="Szöveg helye 17">
            <a:extLst>
              <a:ext uri="{FF2B5EF4-FFF2-40B4-BE49-F238E27FC236}">
                <a16:creationId xmlns:a16="http://schemas.microsoft.com/office/drawing/2014/main" id="{BA97DA73-43F9-43E0-B88C-2D872DBB1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1070817"/>
            <a:ext cx="3854528" cy="415224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2 db monolit vasbeton pályalemezzel </a:t>
            </a:r>
            <a:r>
              <a:rPr lang="hu-HU" dirty="0" err="1"/>
              <a:t>együttdolgozó</a:t>
            </a:r>
            <a:r>
              <a:rPr lang="hu-HU" dirty="0"/>
              <a:t> előregyártott, előfeszített vasbeton tartós híd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Felszerkezetek hossza: 9.20 m, 11.20 m</a:t>
            </a:r>
          </a:p>
          <a:p>
            <a:r>
              <a:rPr lang="hu-HU" dirty="0"/>
              <a:t>Tanulmánytervi, engedélyezési tervi és kiviteli tervi fázisok</a:t>
            </a:r>
          </a:p>
          <a:p>
            <a:r>
              <a:rPr lang="hu-HU" dirty="0"/>
              <a:t>Általános tervezés, kitűzési, zsaluzási és vasalási tervek, hídtartozékok tervei, részletes erőtani számítások</a:t>
            </a:r>
          </a:p>
          <a:p>
            <a:r>
              <a:rPr lang="hu-HU" dirty="0"/>
              <a:t>LOD300-LOD400 részletezettségi szint</a:t>
            </a:r>
          </a:p>
          <a:p>
            <a:r>
              <a:rPr lang="hu-HU" dirty="0"/>
              <a:t>Felhasznált programok: </a:t>
            </a:r>
            <a:r>
              <a:rPr lang="hu-HU" dirty="0" err="1"/>
              <a:t>Autodesk</a:t>
            </a:r>
            <a:r>
              <a:rPr lang="hu-HU" dirty="0"/>
              <a:t> </a:t>
            </a:r>
            <a:r>
              <a:rPr lang="hu-HU" dirty="0" err="1"/>
              <a:t>Revit</a:t>
            </a:r>
            <a:r>
              <a:rPr lang="hu-HU" dirty="0"/>
              <a:t>, AutoCAD, </a:t>
            </a:r>
            <a:r>
              <a:rPr lang="hu-HU" dirty="0" err="1"/>
              <a:t>VBexpress</a:t>
            </a:r>
            <a:r>
              <a:rPr lang="hu-HU" dirty="0"/>
              <a:t>, </a:t>
            </a:r>
            <a:r>
              <a:rPr lang="hu-HU" dirty="0" err="1"/>
              <a:t>AxisVM</a:t>
            </a:r>
            <a:endParaRPr lang="hu-HU" dirty="0"/>
          </a:p>
        </p:txBody>
      </p:sp>
      <p:pic>
        <p:nvPicPr>
          <p:cNvPr id="4" name="Kép helye 3">
            <a:extLst>
              <a:ext uri="{FF2B5EF4-FFF2-40B4-BE49-F238E27FC236}">
                <a16:creationId xmlns:a16="http://schemas.microsoft.com/office/drawing/2014/main" id="{894F6591-AD32-ABE3-4CDA-6D8104FE64E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61" r="15278" b="8686"/>
          <a:stretch/>
        </p:blipFill>
        <p:spPr>
          <a:xfrm>
            <a:off x="4759324" y="113122"/>
            <a:ext cx="5723282" cy="3236829"/>
          </a:xfrm>
          <a:ln w="57150" cmpd="tri">
            <a:solidFill>
              <a:schemeClr val="accent1"/>
            </a:solidFill>
          </a:ln>
        </p:spPr>
      </p:pic>
      <p:pic>
        <p:nvPicPr>
          <p:cNvPr id="7" name="Kép helye 6" descr="A képen diagram, Tervrajz, Műszaki rajz, sematikus rajz látható&#10;&#10;Automatikusan generált leírás">
            <a:extLst>
              <a:ext uri="{FF2B5EF4-FFF2-40B4-BE49-F238E27FC236}">
                <a16:creationId xmlns:a16="http://schemas.microsoft.com/office/drawing/2014/main" id="{E576E74C-E197-B27E-AC06-07B7649AA71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98"/>
          <a:stretch/>
        </p:blipFill>
        <p:spPr>
          <a:xfrm>
            <a:off x="4759324" y="3508049"/>
            <a:ext cx="6755342" cy="2898439"/>
          </a:xfrm>
          <a:ln w="57150" cmpd="tri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71216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7A806F6F-12F2-FD9B-F2D7-F48E5697B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58" y="179337"/>
            <a:ext cx="7016787" cy="4197936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sp>
        <p:nvSpPr>
          <p:cNvPr id="16" name="Cím 16">
            <a:extLst>
              <a:ext uri="{FF2B5EF4-FFF2-40B4-BE49-F238E27FC236}">
                <a16:creationId xmlns:a16="http://schemas.microsoft.com/office/drawing/2014/main" id="{C714F99E-3CE1-B619-CC17-9275380EDE53}"/>
              </a:ext>
            </a:extLst>
          </p:cNvPr>
          <p:cNvSpPr txBox="1">
            <a:spLocks/>
          </p:cNvSpPr>
          <p:nvPr/>
        </p:nvSpPr>
        <p:spPr>
          <a:xfrm>
            <a:off x="1773164" y="4469877"/>
            <a:ext cx="3854528" cy="968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1800" b="1" dirty="0">
                <a:solidFill>
                  <a:schemeClr val="tx1"/>
                </a:solidFill>
              </a:rPr>
              <a:t>Általános terv</a:t>
            </a:r>
            <a:endParaRPr lang="de-AT" sz="1800" b="1" dirty="0">
              <a:solidFill>
                <a:schemeClr val="tx1"/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FFFA8B5A-5060-823A-56E1-4DA39F364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04604"/>
            <a:ext cx="5844397" cy="3298645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sp>
        <p:nvSpPr>
          <p:cNvPr id="8" name="Cím 16">
            <a:extLst>
              <a:ext uri="{FF2B5EF4-FFF2-40B4-BE49-F238E27FC236}">
                <a16:creationId xmlns:a16="http://schemas.microsoft.com/office/drawing/2014/main" id="{0222CE56-41E2-3E26-314B-AF734D4CE017}"/>
              </a:ext>
            </a:extLst>
          </p:cNvPr>
          <p:cNvSpPr txBox="1">
            <a:spLocks/>
          </p:cNvSpPr>
          <p:nvPr/>
        </p:nvSpPr>
        <p:spPr>
          <a:xfrm>
            <a:off x="4409552" y="5308979"/>
            <a:ext cx="3854528" cy="968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1800" b="1" dirty="0">
                <a:solidFill>
                  <a:schemeClr val="tx1"/>
                </a:solidFill>
              </a:rPr>
              <a:t>Statikai váz</a:t>
            </a:r>
            <a:endParaRPr lang="de-AT" sz="1800" b="1" dirty="0">
              <a:solidFill>
                <a:schemeClr val="tx1"/>
              </a:solidFill>
            </a:endParaRPr>
          </a:p>
        </p:txBody>
      </p:sp>
      <p:pic>
        <p:nvPicPr>
          <p:cNvPr id="2" name="Kép 1" descr="A képen szöveg, képernyőkép, Grafikai szoftver, Multimédiás szoftver látható&#10;&#10;Automatikusan generált leírás">
            <a:extLst>
              <a:ext uri="{FF2B5EF4-FFF2-40B4-BE49-F238E27FC236}">
                <a16:creationId xmlns:a16="http://schemas.microsoft.com/office/drawing/2014/main" id="{5B35B66C-F308-D2C6-F1DF-15E3E9569D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31" t="21526" r="18294" b="7221"/>
          <a:stretch/>
        </p:blipFill>
        <p:spPr>
          <a:xfrm>
            <a:off x="8813560" y="316793"/>
            <a:ext cx="2935382" cy="2286507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sp>
        <p:nvSpPr>
          <p:cNvPr id="4" name="Cím 16">
            <a:extLst>
              <a:ext uri="{FF2B5EF4-FFF2-40B4-BE49-F238E27FC236}">
                <a16:creationId xmlns:a16="http://schemas.microsoft.com/office/drawing/2014/main" id="{A81B1744-CA88-DD52-AB9F-1E367CDA3819}"/>
              </a:ext>
            </a:extLst>
          </p:cNvPr>
          <p:cNvSpPr txBox="1">
            <a:spLocks/>
          </p:cNvSpPr>
          <p:nvPr/>
        </p:nvSpPr>
        <p:spPr>
          <a:xfrm>
            <a:off x="9353975" y="2688974"/>
            <a:ext cx="3854528" cy="968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1800" b="1" dirty="0">
                <a:solidFill>
                  <a:schemeClr val="tx1"/>
                </a:solidFill>
              </a:rPr>
              <a:t>Vasalás 3D nézet</a:t>
            </a:r>
            <a:endParaRPr lang="de-AT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38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ím 16">
            <a:extLst>
              <a:ext uri="{FF2B5EF4-FFF2-40B4-BE49-F238E27FC236}">
                <a16:creationId xmlns:a16="http://schemas.microsoft.com/office/drawing/2014/main" id="{CC7C110A-A456-8A9F-BAA7-5E937F0C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1800" b="1" dirty="0"/>
              <a:t>Városi Sportuszoda és Élményfürdő, Baja</a:t>
            </a:r>
            <a:endParaRPr lang="de-AT" sz="1800" b="1" dirty="0"/>
          </a:p>
        </p:txBody>
      </p:sp>
      <p:sp>
        <p:nvSpPr>
          <p:cNvPr id="18" name="Szöveg helye 17">
            <a:extLst>
              <a:ext uri="{FF2B5EF4-FFF2-40B4-BE49-F238E27FC236}">
                <a16:creationId xmlns:a16="http://schemas.microsoft.com/office/drawing/2014/main" id="{BA97DA73-43F9-43E0-B88C-2D872DBB1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1352875"/>
            <a:ext cx="3854528" cy="4152249"/>
          </a:xfrm>
        </p:spPr>
        <p:txBody>
          <a:bodyPr>
            <a:normAutofit/>
          </a:bodyPr>
          <a:lstStyle/>
          <a:p>
            <a:r>
              <a:rPr lang="hu-HU" dirty="0"/>
              <a:t>Öttámaszú, monolit vasbeton gyalogos híd</a:t>
            </a:r>
          </a:p>
          <a:p>
            <a:r>
              <a:rPr lang="hu-HU" dirty="0"/>
              <a:t>Felszerkezet hossza: 70.56 m (támaszközök: 14.49 m – 31.64 m – 16.70 m – 6.93 m)</a:t>
            </a:r>
          </a:p>
          <a:p>
            <a:r>
              <a:rPr lang="hu-HU" dirty="0"/>
              <a:t>Teljeskörű kiviteli tervezés: általános tervezés, vasbetonszerkezetek kitűzési, zsaluzási és vasalási tervei, hídtartozékok és lefedő acélszerkezet kiviteli tervei</a:t>
            </a:r>
          </a:p>
          <a:p>
            <a:r>
              <a:rPr lang="hu-HU" dirty="0"/>
              <a:t>Részletes erőtani számítás felszerkezetre és alépítményekre, lefedő acélszerkezetre</a:t>
            </a:r>
          </a:p>
          <a:p>
            <a:r>
              <a:rPr lang="hu-HU" dirty="0"/>
              <a:t>Felhasznált programok: </a:t>
            </a:r>
            <a:r>
              <a:rPr lang="hu-HU" dirty="0" err="1"/>
              <a:t>Autodesk</a:t>
            </a:r>
            <a:r>
              <a:rPr lang="hu-HU" dirty="0"/>
              <a:t> </a:t>
            </a:r>
            <a:r>
              <a:rPr lang="hu-HU" dirty="0" err="1"/>
              <a:t>Revit</a:t>
            </a:r>
            <a:r>
              <a:rPr lang="hu-HU" dirty="0"/>
              <a:t>, AutoCAD, </a:t>
            </a:r>
            <a:r>
              <a:rPr lang="hu-HU" dirty="0" err="1"/>
              <a:t>VBexpress</a:t>
            </a:r>
            <a:r>
              <a:rPr lang="hu-HU" dirty="0"/>
              <a:t>, </a:t>
            </a:r>
            <a:r>
              <a:rPr lang="hu-HU" dirty="0" err="1"/>
              <a:t>AxisVM</a:t>
            </a:r>
            <a:endParaRPr lang="hu-HU" dirty="0"/>
          </a:p>
        </p:txBody>
      </p:sp>
      <p:pic>
        <p:nvPicPr>
          <p:cNvPr id="11" name="Kép helye 6" descr="A képen diagram, szöveg, Tervrajz, sematikus rajz látható&#10;&#10;Automatikusan generált leírás">
            <a:extLst>
              <a:ext uri="{FF2B5EF4-FFF2-40B4-BE49-F238E27FC236}">
                <a16:creationId xmlns:a16="http://schemas.microsoft.com/office/drawing/2014/main" id="{CC8F7C4F-6819-D329-A9DF-654D23F439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2" b="9188"/>
          <a:stretch/>
        </p:blipFill>
        <p:spPr>
          <a:xfrm>
            <a:off x="5065193" y="955963"/>
            <a:ext cx="6796151" cy="2473036"/>
          </a:xfrm>
          <a:prstGeom prst="rect">
            <a:avLst/>
          </a:prstGeom>
          <a:ln w="44450" cmpd="tri">
            <a:solidFill>
              <a:schemeClr val="accent1"/>
            </a:solidFill>
          </a:ln>
        </p:spPr>
      </p:pic>
      <p:pic>
        <p:nvPicPr>
          <p:cNvPr id="12" name="Kép helye 11" descr="A képen szöveg, képernyőkép, Grafikai szoftver, Multimédiás szoftver látható&#10;&#10;Automatikusan generált leírás">
            <a:extLst>
              <a:ext uri="{FF2B5EF4-FFF2-40B4-BE49-F238E27FC236}">
                <a16:creationId xmlns:a16="http://schemas.microsoft.com/office/drawing/2014/main" id="{F965B25F-A778-589E-B6D5-105A72150B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7" t="30320" r="837" b="2700"/>
          <a:stretch/>
        </p:blipFill>
        <p:spPr>
          <a:xfrm>
            <a:off x="5065194" y="3877019"/>
            <a:ext cx="6796151" cy="2473036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77872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 descr="A képen vázlat, szöveg, diagram, Tervrajz látható&#10;&#10;Automatikusan generált leírás">
            <a:extLst>
              <a:ext uri="{FF2B5EF4-FFF2-40B4-BE49-F238E27FC236}">
                <a16:creationId xmlns:a16="http://schemas.microsoft.com/office/drawing/2014/main" id="{68D17FD7-CE23-659D-28DD-ABFC26816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83" y="439286"/>
            <a:ext cx="8974318" cy="2183233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pic>
        <p:nvPicPr>
          <p:cNvPr id="15" name="Kép 14" descr="A képen szöveg, diagram, vázlat, Műszaki rajz látható&#10;&#10;Automatikusan generált leírás">
            <a:extLst>
              <a:ext uri="{FF2B5EF4-FFF2-40B4-BE49-F238E27FC236}">
                <a16:creationId xmlns:a16="http://schemas.microsoft.com/office/drawing/2014/main" id="{9CE1182C-3BB0-22BF-70B6-2761001B8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349" y="2844800"/>
            <a:ext cx="7292299" cy="3883891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sp>
        <p:nvSpPr>
          <p:cNvPr id="16" name="Cím 16">
            <a:extLst>
              <a:ext uri="{FF2B5EF4-FFF2-40B4-BE49-F238E27FC236}">
                <a16:creationId xmlns:a16="http://schemas.microsoft.com/office/drawing/2014/main" id="{C714F99E-3CE1-B619-CC17-9275380EDE53}"/>
              </a:ext>
            </a:extLst>
          </p:cNvPr>
          <p:cNvSpPr txBox="1">
            <a:spLocks/>
          </p:cNvSpPr>
          <p:nvPr/>
        </p:nvSpPr>
        <p:spPr>
          <a:xfrm>
            <a:off x="9360914" y="2138470"/>
            <a:ext cx="3854528" cy="968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1800" b="1" dirty="0">
                <a:solidFill>
                  <a:schemeClr val="tx1"/>
                </a:solidFill>
              </a:rPr>
              <a:t>Felszerkezet zsaluzási</a:t>
            </a:r>
          </a:p>
          <a:p>
            <a:r>
              <a:rPr lang="hu-HU" sz="1800" b="1" dirty="0">
                <a:solidFill>
                  <a:schemeClr val="tx1"/>
                </a:solidFill>
              </a:rPr>
              <a:t>és kitűzési terv</a:t>
            </a:r>
            <a:endParaRPr lang="de-AT" sz="1800" b="1" dirty="0">
              <a:solidFill>
                <a:schemeClr val="tx1"/>
              </a:solidFill>
            </a:endParaRPr>
          </a:p>
        </p:txBody>
      </p:sp>
      <p:sp>
        <p:nvSpPr>
          <p:cNvPr id="18" name="Cím 16">
            <a:extLst>
              <a:ext uri="{FF2B5EF4-FFF2-40B4-BE49-F238E27FC236}">
                <a16:creationId xmlns:a16="http://schemas.microsoft.com/office/drawing/2014/main" id="{3F1E2CB2-FBBD-4CAC-66D2-1453C725E2F2}"/>
              </a:ext>
            </a:extLst>
          </p:cNvPr>
          <p:cNvSpPr txBox="1">
            <a:spLocks/>
          </p:cNvSpPr>
          <p:nvPr/>
        </p:nvSpPr>
        <p:spPr>
          <a:xfrm>
            <a:off x="9249616" y="575184"/>
            <a:ext cx="3854528" cy="968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1800" b="1" dirty="0">
                <a:solidFill>
                  <a:schemeClr val="tx1"/>
                </a:solidFill>
              </a:rPr>
              <a:t>Alépítmény zsaluzási </a:t>
            </a:r>
          </a:p>
          <a:p>
            <a:r>
              <a:rPr lang="hu-HU" sz="1800" b="1" dirty="0">
                <a:solidFill>
                  <a:schemeClr val="tx1"/>
                </a:solidFill>
              </a:rPr>
              <a:t>és kitűzési terv</a:t>
            </a:r>
            <a:endParaRPr lang="de-AT" sz="1800" b="1" dirty="0">
              <a:solidFill>
                <a:schemeClr val="tx1"/>
              </a:solidFill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708A2CCA-20D3-BAAD-41EE-039BC0022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66" y="3106567"/>
            <a:ext cx="3063930" cy="2085437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73679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ím 16">
            <a:extLst>
              <a:ext uri="{FF2B5EF4-FFF2-40B4-BE49-F238E27FC236}">
                <a16:creationId xmlns:a16="http://schemas.microsoft.com/office/drawing/2014/main" id="{C714F99E-3CE1-B619-CC17-9275380EDE53}"/>
              </a:ext>
            </a:extLst>
          </p:cNvPr>
          <p:cNvSpPr txBox="1">
            <a:spLocks/>
          </p:cNvSpPr>
          <p:nvPr/>
        </p:nvSpPr>
        <p:spPr>
          <a:xfrm>
            <a:off x="542992" y="4432374"/>
            <a:ext cx="3854528" cy="968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1800" b="1" dirty="0">
                <a:solidFill>
                  <a:schemeClr val="tx1"/>
                </a:solidFill>
              </a:rPr>
              <a:t>Alépítmény vasalási</a:t>
            </a:r>
          </a:p>
          <a:p>
            <a:r>
              <a:rPr lang="hu-HU" sz="1800" b="1" dirty="0">
                <a:solidFill>
                  <a:schemeClr val="tx1"/>
                </a:solidFill>
              </a:rPr>
              <a:t>tervek</a:t>
            </a:r>
            <a:endParaRPr lang="de-AT" sz="1800" b="1" dirty="0">
              <a:solidFill>
                <a:schemeClr val="tx1"/>
              </a:solidFill>
            </a:endParaRPr>
          </a:p>
        </p:txBody>
      </p:sp>
      <p:sp>
        <p:nvSpPr>
          <p:cNvPr id="18" name="Cím 16">
            <a:extLst>
              <a:ext uri="{FF2B5EF4-FFF2-40B4-BE49-F238E27FC236}">
                <a16:creationId xmlns:a16="http://schemas.microsoft.com/office/drawing/2014/main" id="{3F1E2CB2-FBBD-4CAC-66D2-1453C725E2F2}"/>
              </a:ext>
            </a:extLst>
          </p:cNvPr>
          <p:cNvSpPr txBox="1">
            <a:spLocks/>
          </p:cNvSpPr>
          <p:nvPr/>
        </p:nvSpPr>
        <p:spPr>
          <a:xfrm>
            <a:off x="9284450" y="1046853"/>
            <a:ext cx="3854528" cy="968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1800" b="1" dirty="0">
                <a:solidFill>
                  <a:schemeClr val="tx1"/>
                </a:solidFill>
              </a:rPr>
              <a:t>Felszerkezet vasalási </a:t>
            </a:r>
          </a:p>
          <a:p>
            <a:r>
              <a:rPr lang="hu-HU" sz="1800" b="1" dirty="0">
                <a:solidFill>
                  <a:schemeClr val="tx1"/>
                </a:solidFill>
              </a:rPr>
              <a:t>terv</a:t>
            </a:r>
            <a:endParaRPr lang="de-AT" sz="1800" b="1" dirty="0">
              <a:solidFill>
                <a:schemeClr val="tx1"/>
              </a:solidFill>
            </a:endParaRPr>
          </a:p>
        </p:txBody>
      </p:sp>
      <p:pic>
        <p:nvPicPr>
          <p:cNvPr id="3" name="Kép 2" descr="A képen vázlat, diagram, sor, Párhuzamos látható&#10;&#10;Automatikusan generált leírás">
            <a:extLst>
              <a:ext uri="{FF2B5EF4-FFF2-40B4-BE49-F238E27FC236}">
                <a16:creationId xmlns:a16="http://schemas.microsoft.com/office/drawing/2014/main" id="{03DE0505-3D65-FBF7-BA4C-83D2F3F2F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12" y="298261"/>
            <a:ext cx="8748074" cy="3272141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pic>
        <p:nvPicPr>
          <p:cNvPr id="5" name="Kép 4" descr="A képen szöveg, diagram, Műszaki rajz, Tervrajz látható&#10;&#10;Automatikusan generált leírás">
            <a:extLst>
              <a:ext uri="{FF2B5EF4-FFF2-40B4-BE49-F238E27FC236}">
                <a16:creationId xmlns:a16="http://schemas.microsoft.com/office/drawing/2014/main" id="{D181CBEC-A7D6-DD39-7A30-FC098CD5B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206" y="3933614"/>
            <a:ext cx="3018285" cy="2780568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  <p:pic>
        <p:nvPicPr>
          <p:cNvPr id="7" name="Kép 6" descr="A képen diagram, vázlat, Műszaki rajz, Tervrajz látható&#10;&#10;Automatikusan generált leírás">
            <a:extLst>
              <a:ext uri="{FF2B5EF4-FFF2-40B4-BE49-F238E27FC236}">
                <a16:creationId xmlns:a16="http://schemas.microsoft.com/office/drawing/2014/main" id="{607A3B9D-D5F0-DD5A-175D-64B436107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46" y="3933615"/>
            <a:ext cx="5672614" cy="2780568"/>
          </a:xfrm>
          <a:prstGeom prst="rect">
            <a:avLst/>
          </a:prstGeom>
          <a:ln w="57150" cmpd="tri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36913289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</TotalTime>
  <Words>252</Words>
  <Application>Microsoft Office PowerPoint</Application>
  <PresentationFormat>Szélesvásznú</PresentationFormat>
  <Paragraphs>40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Dimenzió</vt:lpstr>
      <vt:lpstr>Referencia projektek</vt:lpstr>
      <vt:lpstr>Szendrőládi Bódva-híd áttervezése</vt:lpstr>
      <vt:lpstr>PowerPoint-bemutató</vt:lpstr>
      <vt:lpstr>PowerPoint-bemutató</vt:lpstr>
      <vt:lpstr>Petőháza – Fertőd kerékpáros hidak</vt:lpstr>
      <vt:lpstr>PowerPoint-bemutató</vt:lpstr>
      <vt:lpstr>Városi Sportuszoda és Élményfürdő, Baja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Dániel</dc:creator>
  <cp:lastModifiedBy>Bodor Dániel</cp:lastModifiedBy>
  <cp:revision>57</cp:revision>
  <dcterms:created xsi:type="dcterms:W3CDTF">2023-10-19T09:58:05Z</dcterms:created>
  <dcterms:modified xsi:type="dcterms:W3CDTF">2024-04-23T14:30:11Z</dcterms:modified>
</cp:coreProperties>
</file>